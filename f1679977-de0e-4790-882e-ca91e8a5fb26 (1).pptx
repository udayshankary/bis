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</p:sldIdLst>
  <p:sldSz cx="9144000" cy="5143500" type="screen16x9"/>
  <p:notesSz cx="6858000" cy="9144000"/>
  <p:embeddedFontLst>
    <p:embeddedFont>
      <p:font typeface="Old Standard TT" panose="020B0604020202020204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ed6d00fc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ed6d00fc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ed6d00fcc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ed6d00fcc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ed6d00fc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ed6d00fc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035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035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0357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0357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ed6d00fcc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ed6d00fcc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ed6d00fcc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ed6d00fcc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ed6d00fcc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ed6d00fcc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ed6d00fcc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ed6d00fcc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6f90357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6f90357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ed6d00fcc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ed6d00fcc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Cellular Algorithm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0225" y="0"/>
            <a:ext cx="733775" cy="7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755150" y="3861175"/>
            <a:ext cx="65043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Overview, Implementation, and Applications</a:t>
            </a:r>
            <a:endParaRPr sz="25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8258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/>
              <a:t>Introduction to Parallel Cellular Algorithms</a:t>
            </a:r>
            <a:endParaRPr sz="2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●"/>
            </a:pPr>
            <a:r>
              <a:rPr lang="en" sz="2000" b="1"/>
              <a:t>Definition</a:t>
            </a:r>
            <a:r>
              <a:rPr lang="en" sz="2000"/>
              <a:t>: Algorithms inspired by the biological functioning of cells.</a:t>
            </a:r>
            <a:endParaRPr sz="20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●"/>
            </a:pPr>
            <a:r>
              <a:rPr lang="en" sz="2000" b="1"/>
              <a:t>Key Features</a:t>
            </a:r>
            <a:r>
              <a:rPr lang="en" sz="2000"/>
              <a:t>: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○"/>
            </a:pPr>
            <a:r>
              <a:rPr lang="en" sz="2000"/>
              <a:t>Highly parallel and distributed.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○"/>
            </a:pPr>
            <a:r>
              <a:rPr lang="en" sz="2000"/>
              <a:t>Leverage the principles of cellular automata.</a:t>
            </a:r>
            <a:endParaRPr sz="2000"/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○"/>
            </a:pPr>
            <a:r>
              <a:rPr lang="en" sz="2000"/>
              <a:t>Suitable for large-scale optimization problems.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512700" y="648275"/>
            <a:ext cx="8118600" cy="39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800" b="1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800" b="1"/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800" b="1"/>
              <a:t>Concept of Cellular Automata</a:t>
            </a:r>
            <a:endParaRPr sz="3800" b="1"/>
          </a:p>
          <a:p>
            <a:pPr marL="0" lvl="0" indent="0" algn="ctr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/>
              <a:t>Individually, we are one drop. Together, we are an ocean.</a:t>
            </a:r>
            <a:endParaRPr sz="1200" b="1"/>
          </a:p>
          <a:p>
            <a:pPr marL="381000" marR="381000" lvl="0" indent="0" algn="ctr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/>
              <a:t>—Ryunosuke Satoro</a:t>
            </a:r>
            <a:endParaRPr sz="1500"/>
          </a:p>
          <a:p>
            <a:pPr marL="9144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Cell Lives on a Grid</a:t>
            </a:r>
            <a:endParaRPr sz="1500"/>
          </a:p>
          <a:p>
            <a:pPr marL="9144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Each Cell has a State</a:t>
            </a:r>
            <a:endParaRPr sz="1500"/>
          </a:p>
          <a:p>
            <a:pPr marL="9144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Each Cell has a neighbourhood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512700" y="648275"/>
            <a:ext cx="8118600" cy="39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00" y="698150"/>
            <a:ext cx="8118600" cy="386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512700" y="648275"/>
            <a:ext cx="8118600" cy="39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800" b="1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800" b="1"/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800" b="1"/>
              <a:t>Concept of Cellular Automata</a:t>
            </a:r>
            <a:endParaRPr sz="3800" b="1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/>
          </a:p>
          <a:p>
            <a:pPr marL="914400" lvl="1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A grid of cells, each with a state.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Cells interact with neighbors based on predefined rules.</a:t>
            </a:r>
            <a:endParaRPr sz="1500"/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The state of a cell changes over time depending on its neighbors' states.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512700" y="256475"/>
            <a:ext cx="8118600" cy="43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3800" b="1"/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700" b="1"/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600"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Core Principles of Parallel Cellular Algorithms</a:t>
            </a:r>
            <a:endParaRPr sz="2500" b="1"/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Cells as Solutions</a:t>
            </a:r>
            <a:r>
              <a:rPr lang="en" sz="1500"/>
              <a:t>: Each cell represents a potential solution.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Neighborhood Interaction</a:t>
            </a:r>
            <a:r>
              <a:rPr lang="en" sz="1500"/>
              <a:t>: Cells update based on interactions with neighboring cells.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Parallelism</a:t>
            </a:r>
            <a:r>
              <a:rPr lang="en" sz="1500"/>
              <a:t>: Simultaneous processing of multiple cells.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Distributed Approach</a:t>
            </a:r>
            <a:r>
              <a:rPr lang="en" sz="1500"/>
              <a:t>: Each cell works independently but cooperatively to explore the solution space.</a:t>
            </a:r>
            <a:endParaRPr sz="1500"/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1"/>
              <a:t>Steps for Implementation</a:t>
            </a:r>
            <a:endParaRPr sz="7000"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Define the Problem</a:t>
            </a:r>
            <a:r>
              <a:rPr lang="en" sz="1200"/>
              <a:t>: Create the function to optimize.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Initialize Parameters</a:t>
            </a:r>
            <a:r>
              <a:rPr lang="en" sz="1200"/>
              <a:t>: Set grid size, number of cells, and iterations.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Initialize Population</a:t>
            </a:r>
            <a:r>
              <a:rPr lang="en" sz="1200"/>
              <a:t>: Randomly place cells in the solution space.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Evaluate Fitness</a:t>
            </a:r>
            <a:r>
              <a:rPr lang="en" sz="1200"/>
              <a:t>: Assess how well each cell performs.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Update States</a:t>
            </a:r>
            <a:r>
              <a:rPr lang="en" sz="1200"/>
              <a:t>: Cells update based on neighbor interactions.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Iterate</a:t>
            </a:r>
            <a:r>
              <a:rPr lang="en" sz="1200"/>
              <a:t>: Repeat the process until convergence.</a:t>
            </a:r>
            <a:endParaRPr sz="1200"/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lang="en" sz="1200" b="1"/>
              <a:t>Output Best Solution</a:t>
            </a:r>
            <a:r>
              <a:rPr lang="en" sz="1200"/>
              <a:t>: Track and report the best solution.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Procedure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/>
              <a:t>Define the Problem</a:t>
            </a:r>
            <a:endParaRPr sz="2000"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 b="1"/>
              <a:t>Example Problem</a:t>
            </a:r>
            <a:r>
              <a:rPr lang="en" sz="1800"/>
              <a:t>: Minimize </a:t>
            </a:r>
            <a:endParaRPr sz="18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f(x) = x^2 - 4x +4</a:t>
            </a:r>
            <a:endParaRPr sz="18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 b="1"/>
              <a:t>Goal</a:t>
            </a:r>
            <a:r>
              <a:rPr lang="en" sz="1800"/>
              <a:t>: Find the value of x that minimizes f(x).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30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210625"/>
            <a:ext cx="4527599" cy="277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512700" y="406075"/>
            <a:ext cx="8118600" cy="3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/>
              <a:t>Initialize Parameters</a:t>
            </a:r>
            <a:endParaRPr sz="2000" b="1"/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Number of Cells</a:t>
            </a:r>
            <a:r>
              <a:rPr lang="en" sz="1500"/>
              <a:t>: 100 cells in the grid.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Grid Size</a:t>
            </a:r>
            <a:r>
              <a:rPr lang="en" sz="1500"/>
              <a:t>: 2D grid (10x10).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Neighborhood Structure</a:t>
            </a:r>
            <a:r>
              <a:rPr lang="en" sz="1500"/>
              <a:t>: 3x3 neighborhood.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Iterations</a:t>
            </a:r>
            <a:r>
              <a:rPr lang="en" sz="1500"/>
              <a:t>: 100 iterations.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987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/>
              <a:t>Initialize Population</a:t>
            </a:r>
            <a:endParaRPr sz="2500" b="1"/>
          </a:p>
          <a:p>
            <a:pPr marL="457200" lvl="0" indent="-3556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●"/>
            </a:pPr>
            <a:r>
              <a:rPr lang="en" sz="2000" b="1"/>
              <a:t>Random Initialization</a:t>
            </a:r>
            <a:r>
              <a:rPr lang="en" sz="2000"/>
              <a:t>: Place cells in the search space.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●"/>
            </a:pPr>
            <a:r>
              <a:rPr lang="en" sz="2000" b="1"/>
              <a:t>Example</a:t>
            </a:r>
            <a:r>
              <a:rPr lang="en" sz="2000"/>
              <a:t>: Each cell is randomly assigned a value from -10 to 10.</a:t>
            </a:r>
            <a:endParaRPr sz="2000"/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Fitness</a:t>
            </a: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80163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 b="1"/>
              <a:t>Fitness Function</a:t>
            </a:r>
            <a:r>
              <a:rPr lang="en" sz="2000"/>
              <a:t>: Measure the quality of each cell's solution.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 b="1"/>
              <a:t>Example</a:t>
            </a:r>
            <a:r>
              <a:rPr lang="en" sz="2000"/>
              <a:t>: f(x) = x^2 - 4x + 4, fitness is calculated for each cell.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/>
              <a:t>Cells with corresponding fitness values is measured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987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 b="1" dirty="0"/>
              <a:t>Update States</a:t>
            </a:r>
            <a:endParaRPr sz="2300" b="1" dirty="0"/>
          </a:p>
          <a:p>
            <a:pPr marL="457200" lvl="0" indent="-3365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-US" sz="1700" dirty="0"/>
              <a:t>Each cell checks its neighborhood.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-US" sz="1800" dirty="0"/>
              <a:t>Finds the neighbor with the best fitness</a:t>
            </a:r>
            <a:r>
              <a:rPr lang="en-US" sz="1700" dirty="0"/>
              <a:t>.</a:t>
            </a:r>
            <a:br>
              <a:rPr lang="en-US" sz="1700" dirty="0"/>
            </a:br>
            <a:r>
              <a:rPr lang="en-US" sz="1700" dirty="0"/>
              <a:t>Predefined update rules.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"/>
              <a:buChar char="●"/>
            </a:pPr>
            <a:r>
              <a:rPr lang="en" sz="1700" b="1" dirty="0"/>
              <a:t>Update Rule Example</a:t>
            </a:r>
            <a:r>
              <a:rPr lang="en" sz="1700" dirty="0"/>
              <a:t>: A cell updates to the average value of its neighbors.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Iterate</a:t>
            </a: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356200"/>
            <a:ext cx="8016300" cy="31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just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" sz="2000"/>
              <a:t>    </a:t>
            </a:r>
            <a:r>
              <a:rPr lang="en" sz="1500"/>
              <a:t>Repeat the Process: Continue fitness evaluation and state updates.</a:t>
            </a:r>
            <a:endParaRPr sz="1500"/>
          </a:p>
          <a:p>
            <a:pPr marL="457200" lvl="0" indent="-323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/>
              <a:t>    Stopping Criteria: Either after a fixed number of iterations or when convergence is reached.</a:t>
            </a:r>
            <a:endParaRPr sz="1500"/>
          </a:p>
          <a:p>
            <a:pPr marL="0" lvl="0" indent="0" algn="just" rtl="0">
              <a:spcBef>
                <a:spcPts val="1200"/>
              </a:spcBef>
              <a:spcAft>
                <a:spcPts val="1600"/>
              </a:spcAft>
              <a:buNone/>
            </a:pPr>
            <a:endParaRPr sz="20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512700" y="406075"/>
            <a:ext cx="8118600" cy="34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 b="1"/>
              <a:t>Output the Best Solution</a:t>
            </a:r>
            <a:endParaRPr sz="2500" b="1"/>
          </a:p>
          <a:p>
            <a:pPr marL="0" lvl="0" indent="0" algn="just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b="1"/>
              <a:t>Track Best Solution</a:t>
            </a:r>
            <a:r>
              <a:rPr lang="en" sz="2000"/>
              <a:t>: Monitor the cell with the best fitness during iterations.</a:t>
            </a:r>
            <a:endParaRPr sz="2000"/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987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 b="1"/>
              <a:t>Advantages of Parallel Cellular Algorithms</a:t>
            </a:r>
            <a:endParaRPr sz="2500" b="1"/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Scalability</a:t>
            </a:r>
            <a:r>
              <a:rPr lang="en" sz="1500"/>
              <a:t>: Efficient for large-scale problems.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Parallelism</a:t>
            </a:r>
            <a:r>
              <a:rPr lang="en" sz="1500"/>
              <a:t>: Exploits parallel computing resources.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Local and Global Search</a:t>
            </a:r>
            <a:r>
              <a:rPr lang="en" sz="1500"/>
              <a:t>: Simultaneous local updates and global cooperation.</a:t>
            </a:r>
            <a:endParaRPr sz="1500"/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Applications:</a:t>
            </a:r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just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Optimization Problems</a:t>
            </a:r>
            <a:r>
              <a:rPr lang="en" sz="1500"/>
              <a:t>: Solving complex mathematical functions.</a:t>
            </a:r>
            <a:endParaRPr sz="1500"/>
          </a:p>
          <a:p>
            <a:pPr marL="457200" lvl="0" indent="-323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Image Processing</a:t>
            </a:r>
            <a:r>
              <a:rPr lang="en" sz="1500"/>
              <a:t>: Noise reduction, edge detection.</a:t>
            </a:r>
            <a:endParaRPr sz="1500"/>
          </a:p>
          <a:p>
            <a:pPr marL="457200" lvl="0" indent="-323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/>
              <a:t>Routing &amp; Scheduling</a:t>
            </a:r>
            <a:r>
              <a:rPr lang="en" sz="1500"/>
              <a:t>: Resource allocation, logistics.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9872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 b="1"/>
              <a:t>Conclusion</a:t>
            </a:r>
            <a:endParaRPr sz="2500" b="1"/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Summary</a:t>
            </a:r>
            <a:r>
              <a:rPr lang="en" sz="1500"/>
              <a:t>: Parallel Cellular Algorithms efficiently solve large-scale optimization problems by mimicking biological cell interactions.</a:t>
            </a:r>
            <a:endParaRPr sz="1500"/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" sz="1500" b="1"/>
              <a:t>Key Takeaways</a:t>
            </a:r>
            <a:r>
              <a:rPr lang="en" sz="1500"/>
              <a:t>: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Inspired by nature.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Parallel and distributed.</a:t>
            </a:r>
            <a:endParaRPr sz="1500"/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Old Standard TT"/>
              <a:buChar char="○"/>
            </a:pPr>
            <a:r>
              <a:rPr lang="en" sz="1500"/>
              <a:t>Highly suitable for large, complex problems.</a:t>
            </a:r>
            <a:endParaRPr sz="1500"/>
          </a:p>
          <a:p>
            <a:pPr marL="0" lvl="0" indent="0" algn="l" rtl="0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500" b="1"/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561</Words>
  <Application>Microsoft Office PowerPoint</Application>
  <PresentationFormat>On-screen Show (16:9)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Old Standard TT</vt:lpstr>
      <vt:lpstr>Paperback</vt:lpstr>
      <vt:lpstr>Parallel Cellular Algorithm</vt:lpstr>
      <vt:lpstr> Introduction to Parallel Cellular Algorithms  Definition: Algorithms inspired by the biological functioning of cells.  Key Features: Highly parallel and distributed. Leverage the principles of cellular automata. Suitable for large-scale optimization problems. </vt:lpstr>
      <vt:lpstr>  Concept of Cellular Automata Individually, we are one drop. Together, we are an ocean. —Ryunosuke Satoro Cell Lives on a Grid Each Cell has a State Each Cell has a neighbourhood  </vt:lpstr>
      <vt:lpstr>PowerPoint Presentation</vt:lpstr>
      <vt:lpstr>  Concept of Cellular Automata  A grid of cells, each with a state. Cells interact with neighbors based on predefined rules. The state of a cell changes over time depending on its neighbors' states. </vt:lpstr>
      <vt:lpstr>   Core Principles of Parallel Cellular Algorithms Cells as Solutions: Each cell represents a potential solution. Neighborhood Interaction: Cells update based on interactions with neighboring cells. Parallelism: Simultaneous processing of multiple cells. Distributed Approach: Each cell works independently but cooperatively to explore the solution space.  </vt:lpstr>
      <vt:lpstr>Steps for Implementation</vt:lpstr>
      <vt:lpstr>Procedure</vt:lpstr>
      <vt:lpstr>Initialize Parameters Number of Cells: 100 cells in the grid. Grid Size: 2D grid (10x10). Neighborhood Structure: 3x3 neighborhood. Iterations: 100 iterations. </vt:lpstr>
      <vt:lpstr>Initialize Population Random Initialization: Place cells in the search space. Example: Each cell is randomly assigned a value from -10 to 10.  </vt:lpstr>
      <vt:lpstr>Evaluate Fitness</vt:lpstr>
      <vt:lpstr>Update States Each cell checks its neighborhood. Finds the neighbor with the best fitness. Predefined update rules. Update Rule Example: A cell updates to the average value of its neighbors. </vt:lpstr>
      <vt:lpstr>Iterate</vt:lpstr>
      <vt:lpstr>Output the Best Solution Track Best Solution: Monitor the cell with the best fitness during iterations.  </vt:lpstr>
      <vt:lpstr> Advantages of Parallel Cellular Algorithms Scalability: Efficient for large-scale problems. Parallelism: Exploits parallel computing resources. Local and Global Search: Simultaneous local updates and global cooperation.  </vt:lpstr>
      <vt:lpstr>Applications:</vt:lpstr>
      <vt:lpstr> Conclusion Summary: Parallel Cellular Algorithms efficiently solve large-scale optimization problems by mimicking biological cell interactions. Key Takeaways: Inspired by nature. Parallel and distributed. Highly suitable for large, complex problems.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Cellular Algorithm</dc:title>
  <cp:lastModifiedBy>BMSCECSE</cp:lastModifiedBy>
  <cp:revision>4</cp:revision>
  <dcterms:modified xsi:type="dcterms:W3CDTF">2025-10-13T06:33:05Z</dcterms:modified>
</cp:coreProperties>
</file>